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92284faf804e35" /><Relationship Type="http://schemas.openxmlformats.org/officeDocument/2006/relationships/extended-properties" Target="/docProps/app.xml" Id="R935faf9b06b14134" /><Relationship Type="http://schemas.openxmlformats.org/officeDocument/2006/relationships/officeDocument" Target="/ppt/presentation.xml" Id="R50bb074819d442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9670d6a50943dd"/>
  </p:sldMasterIdLst>
  <p:notesMasterIdLst>
    <p:notesMasterId xmlns:r="http://schemas.openxmlformats.org/officeDocument/2006/relationships" r:id="R00a2103358aa4be3"/>
  </p:notesMasterIdLst>
  <p:sldIdLst>
    <p:sldId xmlns:r="http://schemas.openxmlformats.org/officeDocument/2006/relationships" id="256" r:id="R93dc9c9ff2ba4d1e"/>
    <p:sldId xmlns:r="http://schemas.openxmlformats.org/officeDocument/2006/relationships" id="257" r:id="Rf8aebc01107b432f"/>
    <p:sldId xmlns:r="http://schemas.openxmlformats.org/officeDocument/2006/relationships" id="258" r:id="R5f1294edc0844af3"/>
    <p:sldId xmlns:r="http://schemas.openxmlformats.org/officeDocument/2006/relationships" id="259" r:id="R1e144e53318b472f"/>
    <p:sldId xmlns:r="http://schemas.openxmlformats.org/officeDocument/2006/relationships" id="260" r:id="R1cb52f0b2fb54a54"/>
    <p:sldId xmlns:r="http://schemas.openxmlformats.org/officeDocument/2006/relationships" id="261" r:id="R31e19e19a7c5482e"/>
    <p:sldId xmlns:r="http://schemas.openxmlformats.org/officeDocument/2006/relationships" id="262" r:id="Re077d8446cb64f3c"/>
    <p:sldId xmlns:r="http://schemas.openxmlformats.org/officeDocument/2006/relationships" id="263" r:id="Rd1aa828aec1a4fbc"/>
    <p:sldId xmlns:r="http://schemas.openxmlformats.org/officeDocument/2006/relationships" id="264" r:id="R3e0b926fbc274dc4"/>
    <p:sldId xmlns:r="http://schemas.openxmlformats.org/officeDocument/2006/relationships" id="265" r:id="Rfc87b16953df471c"/>
    <p:sldId xmlns:r="http://schemas.openxmlformats.org/officeDocument/2006/relationships" id="266" r:id="R0398e31c8af041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5e665ccb074efc" /><Relationship Type="http://schemas.openxmlformats.org/officeDocument/2006/relationships/slideMaster" Target="/ppt/slideMasters/slideMaster1.xml" Id="R879670d6a50943dd" /><Relationship Type="http://schemas.openxmlformats.org/officeDocument/2006/relationships/notesMaster" Target="/ppt/notesMasters/notesMaster1.xml" Id="R00a2103358aa4be3" /><Relationship Type="http://schemas.openxmlformats.org/officeDocument/2006/relationships/presProps" Target="/ppt/presProps.xml" Id="Rdee3b4c8b3f84836" /><Relationship Type="http://schemas.openxmlformats.org/officeDocument/2006/relationships/tableStyles" Target="/ppt/tableStyles.xml" Id="R559b2fdb850146ed" /><Relationship Type="http://schemas.openxmlformats.org/officeDocument/2006/relationships/slide" Target="/ppt/slides/slide1.xml" Id="R93dc9c9ff2ba4d1e" /><Relationship Type="http://schemas.openxmlformats.org/officeDocument/2006/relationships/slide" Target="/ppt/slides/slide2.xml" Id="Rf8aebc01107b432f" /><Relationship Type="http://schemas.openxmlformats.org/officeDocument/2006/relationships/slide" Target="/ppt/slides/slide3.xml" Id="R5f1294edc0844af3" /><Relationship Type="http://schemas.openxmlformats.org/officeDocument/2006/relationships/slide" Target="/ppt/slides/slide4.xml" Id="R1e144e53318b472f" /><Relationship Type="http://schemas.openxmlformats.org/officeDocument/2006/relationships/slide" Target="/ppt/slides/slide5.xml" Id="R1cb52f0b2fb54a54" /><Relationship Type="http://schemas.openxmlformats.org/officeDocument/2006/relationships/slide" Target="/ppt/slides/slide6.xml" Id="R31e19e19a7c5482e" /><Relationship Type="http://schemas.openxmlformats.org/officeDocument/2006/relationships/slide" Target="/ppt/slides/slide7.xml" Id="Re077d8446cb64f3c" /><Relationship Type="http://schemas.openxmlformats.org/officeDocument/2006/relationships/slide" Target="/ppt/slides/slide8.xml" Id="Rd1aa828aec1a4fbc" /><Relationship Type="http://schemas.openxmlformats.org/officeDocument/2006/relationships/slide" Target="/ppt/slides/slide9.xml" Id="R3e0b926fbc274dc4" /><Relationship Type="http://schemas.openxmlformats.org/officeDocument/2006/relationships/slide" Target="/ppt/slides/slide10.xml" Id="Rfc87b16953df471c" /><Relationship Type="http://schemas.openxmlformats.org/officeDocument/2006/relationships/slide" Target="/ppt/slides/slide11.xml" Id="R0398e31c8af041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744a1d11b34f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43d0d75fbd4f18" /><Relationship Type="http://schemas.openxmlformats.org/officeDocument/2006/relationships/notesMaster" Target="/ppt/notesMasters/notesMaster1.xml" Id="R3ee584fd41d346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8e31d2fef4450e" /><Relationship Type="http://schemas.openxmlformats.org/officeDocument/2006/relationships/notesMaster" Target="/ppt/notesMasters/notesMaster1.xml" Id="R0caf38d7df4948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9a071a4a0f4a7b" /><Relationship Type="http://schemas.openxmlformats.org/officeDocument/2006/relationships/notesMaster" Target="/ppt/notesMasters/notesMaster1.xml" Id="Re56e2ca4071042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714cb48afc454b" /><Relationship Type="http://schemas.openxmlformats.org/officeDocument/2006/relationships/notesMaster" Target="/ppt/notesMasters/notesMaster1.xml" Id="R6668a9421f0146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c74af54d73433d" /><Relationship Type="http://schemas.openxmlformats.org/officeDocument/2006/relationships/notesMaster" Target="/ppt/notesMasters/notesMaster1.xml" Id="R763158fab70d4a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68708eb41c452c" /><Relationship Type="http://schemas.openxmlformats.org/officeDocument/2006/relationships/notesMaster" Target="/ppt/notesMasters/notesMaster1.xml" Id="Ra00ebc5ba90d48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ee05cce32a41af" /><Relationship Type="http://schemas.openxmlformats.org/officeDocument/2006/relationships/notesMaster" Target="/ppt/notesMasters/notesMaster1.xml" Id="R9ac45fe83f2843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c4645447b64e03" /><Relationship Type="http://schemas.openxmlformats.org/officeDocument/2006/relationships/notesMaster" Target="/ppt/notesMasters/notesMaster1.xml" Id="R6facdf6e8f2846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454869e6684c66" /><Relationship Type="http://schemas.openxmlformats.org/officeDocument/2006/relationships/notesMaster" Target="/ppt/notesMasters/notesMaster1.xml" Id="R57bbfe19af9e45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bee4a778ac4422" /><Relationship Type="http://schemas.openxmlformats.org/officeDocument/2006/relationships/notesMaster" Target="/ppt/notesMasters/notesMaster1.xml" Id="Rfb0281ddbac44d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fc88ed1c1b4834" /><Relationship Type="http://schemas.openxmlformats.org/officeDocument/2006/relationships/notesMaster" Target="/ppt/notesMasters/notesMaster1.xml" Id="R574ae5b0a59d4d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115502c0a48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12c1b343344e55" /><Relationship Type="http://schemas.openxmlformats.org/officeDocument/2006/relationships/slideLayout" Target="/ppt/slideLayouts/slideLayout1.xml" Id="R3363920b6e284f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63920b6e284f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062e60faa4cf0" /><Relationship Type="http://schemas.openxmlformats.org/officeDocument/2006/relationships/notesSlide" Target="/ppt/notesSlides/notesSlide1.xml" Id="R6a72280d74d9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326e809b74ee2" /><Relationship Type="http://schemas.openxmlformats.org/officeDocument/2006/relationships/notesSlide" Target="/ppt/notesSlides/notesSlide2.xml" Id="R347d4d99d4974d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62296a9654333" /><Relationship Type="http://schemas.openxmlformats.org/officeDocument/2006/relationships/notesSlide" Target="/ppt/notesSlides/notesSlide3.xml" Id="R778420c5542e4a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7e4ba079c41a9" /><Relationship Type="http://schemas.openxmlformats.org/officeDocument/2006/relationships/notesSlide" Target="/ppt/notesSlides/notesSlide4.xml" Id="R53a10477ccd446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b2021655a44b8" /><Relationship Type="http://schemas.openxmlformats.org/officeDocument/2006/relationships/notesSlide" Target="/ppt/notesSlides/notesSlide5.xml" Id="R54aedebbd3e84e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6bb6846604ad6" /><Relationship Type="http://schemas.openxmlformats.org/officeDocument/2006/relationships/notesSlide" Target="/ppt/notesSlides/notesSlide6.xml" Id="R2684998105544f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09f9d2d5440fc" /><Relationship Type="http://schemas.openxmlformats.org/officeDocument/2006/relationships/notesSlide" Target="/ppt/notesSlides/notesSlide7.xml" Id="Rff70edfc34a845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5a59850b743fb" /><Relationship Type="http://schemas.openxmlformats.org/officeDocument/2006/relationships/notesSlide" Target="/ppt/notesSlides/notesSlide8.xml" Id="R5b3ee904cbd04b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bf5e5e7b04cfc" /><Relationship Type="http://schemas.openxmlformats.org/officeDocument/2006/relationships/notesSlide" Target="/ppt/notesSlides/notesSlide9.xml" Id="R3ec0bc5767144d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9f9189ef345ad" /><Relationship Type="http://schemas.openxmlformats.org/officeDocument/2006/relationships/notesSlide" Target="/ppt/notesSlides/notesSlide10.xml" Id="R62e1b5538a594f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6b22c32d24c4e" /><Relationship Type="http://schemas.openxmlformats.org/officeDocument/2006/relationships/notesSlide" Target="/ppt/notesSlides/notesSlide11.xml" Id="Rdf0ae602249b4b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DBB2FA-D209-4240-A1DD-FFD82CCF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PLAN DE TRABAJO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BE8D9-D5F1-4225-874D-FDCEA858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81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</a:rPr>
              <a:t>Kickoff Argos</a:t>
            </a:r>
          </a:p>
          <a:p xmlns:a="http://schemas.openxmlformats.org/drawingml/2006/main">
            <a:pPr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</a:rPr>
              <a:t>Etapa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47C82-431C-4996-B3C0-C2D80591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504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Módulo Geohashes / Map Pages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30 de junio de 2026 · tarde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AD5EF-2504-4AA6-986E-6800D0A1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5608E-D1C3-4E65-9E6E-250405ED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763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Etapa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11AC2-306F-453F-87CE-34DD0EC9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76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967F8-13E9-436B-B9C8-A89D19AD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Captura y administración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D8024-F0F8-461F-9054-BA0E87B9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4416D-4C0D-40F5-80A2-1462C168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API pública para Skytrack y Tracking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D91E3-518C-4151-86F5-1850874B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81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B6083-B5BA-498C-8648-2B7EA0A1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956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Geohashes MAP_PAGE de 6 posiciones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3B08F-7A84-4982-96A7-BA4CC3CB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33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4F5A7-A18D-48F7-8761-BECA05F4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481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Sincronización incremental hacia 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D67A1-B8D6-4DDF-9C32-05D1FB61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Detektor / Tecnoideas · Argos Colombia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F8E64-2BA1-42DB-8451-386EA5FE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0913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B0FBDA-615D-418D-AF5B-229B9B95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31B83-FB35-4AEB-98E4-A1F442A8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474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Conversación de alineación para salir del kickoff con alcance, ruta y validaciones claras.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0DDB7-195D-4D45-A0FC-C4387300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Kickoff Argos Etapa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F4233-B200-406B-A5FF-B5708FBC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560CE-688E-4AAA-8AB4-587CA989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24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2BA3B-6680-4D30-8C7E-9BB34405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506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00000"/>
                </a:solidFill>
              </a:defRPr>
            </a:pPr>
            <a:r>
              <a:rPr sz="2250">
                <a:solidFill>
                  <a:srgbClr val="000000"/>
                </a:solidFill>
              </a:rPr>
              <a:t>1. Objetivo y alcance de la Etapa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9BE26-D5BA-49D8-80CE-34176ED3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14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EBC2B-5A8B-4B41-BD67-1967AFC5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506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00000"/>
                </a:solidFill>
              </a:defRPr>
            </a:pPr>
            <a:r>
              <a:rPr sz="2250">
                <a:solidFill>
                  <a:srgbClr val="000000"/>
                </a:solidFill>
              </a:rPr>
              <a:t>2. Frentes paralelos y responsabilidades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190AE-AC26-485E-B0B8-1871E94D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05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D89A4-327D-4B06-81BC-31F147B3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19400"/>
            <a:ext cx="506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00000"/>
                </a:solidFill>
              </a:defRPr>
            </a:pPr>
            <a:r>
              <a:rPr sz="2250">
                <a:solidFill>
                  <a:srgbClr val="000000"/>
                </a:solidFill>
              </a:rPr>
              <a:t>3. Entrega temprana: captura +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FB2F6-BEDF-40B1-86AD-8D6B04B5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95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BE0C9-8F73-4D0B-B7ED-93DBDA28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506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00000"/>
                </a:solidFill>
              </a:defRPr>
            </a:pPr>
            <a:r>
              <a:rPr sz="2250">
                <a:solidFill>
                  <a:srgbClr val="000000"/>
                </a:solidFill>
              </a:rPr>
              <a:t>4. Cronograma de sprints y ruta crítica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52CA0-21F3-426F-9053-ADB1275D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02672-8A70-4F0B-BB7E-6F6F778A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506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00000"/>
                </a:solidFill>
              </a:defRPr>
            </a:pPr>
            <a:r>
              <a:rPr sz="2250">
                <a:solidFill>
                  <a:srgbClr val="000000"/>
                </a:solidFill>
              </a:rPr>
              <a:t>5. Riesgos, dependencias y decisiones del kickoff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73E3A-D3C3-48FD-AF5A-A5B6FA36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76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F2EE3-6683-48CA-9089-1000EF26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91050"/>
            <a:ext cx="506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00000"/>
                </a:solidFill>
              </a:defRPr>
            </a:pPr>
            <a:r>
              <a:rPr sz="2250">
                <a:solidFill>
                  <a:srgbClr val="000000"/>
                </a:solidFill>
              </a:rPr>
              <a:t>6. Aprobación del plan y próximos pasos</a:t>
            </a:r>
          </a:p>
        </p:txBody>
      </p:sp>
    </p:spTree>
    <p:extLst>
      <p:ext uri="{BB962C8B-B14F-4D97-AF65-F5344CB8AC3E}">
        <p14:creationId xmlns:p14="http://schemas.microsoft.com/office/powerpoint/2010/main" val="75782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6EC4F9-946C-400A-99EC-85989058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9667B-3ED4-4F16-B02D-414707AA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474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Construir la base operativa del módulo sin afectar Tracking y dejando preparada la integración con Command.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7F9B8-209B-493D-A53C-0E9D1A89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Kickoff Argos Etapa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728FC-1773-4AC6-8090-507D98AD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C74BE-A6ED-4641-9696-EA6C2132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81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Implementar un módulo para administrar la estructura logística y geográfica de Argos, calcular tiempos semilla operativos y exponer consultas consumibles por Skytrack y Tracking.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7F399-2A59-40B4-ADEA-CE8D42E5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1AFC8-799B-4E39-A8DA-FC4B42F4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717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RESULTADO ESPERADO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5CF61-ED6A-47D3-99CE-8C4529E1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</a:defRPr>
            </a:pPr>
            <a:r>
              <a:rPr sz="1725">
                <a:solidFill>
                  <a:srgbClr val="000000"/>
                </a:solidFill>
              </a:rPr>
              <a:t>Un flujo completo desde catálogos y captura de datos hasta geohashes MAP_PAGE listos para sincronización incremental.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13D01-44A1-4DF9-8AD5-114BACB1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20AD9-3EF3-422A-91E3-F75F1C3A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052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CRITERIO DE ARRANQUE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A466E-E4BE-4AA9-8B88-FBC2EC3A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67200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</a:defRPr>
            </a:pPr>
            <a:r>
              <a:rPr sz="1725">
                <a:solidFill>
                  <a:srgbClr val="000000"/>
                </a:solidFill>
              </a:rPr>
              <a:t>Alinear contratos, data maestra, ambientes y reglas de negocio mínimas con Argos/Summa.</a:t>
            </a:r>
          </a:p>
        </p:txBody>
      </p:sp>
    </p:spTree>
    <p:extLst>
      <p:ext uri="{BB962C8B-B14F-4D97-AF65-F5344CB8AC3E}">
        <p14:creationId xmlns:p14="http://schemas.microsoft.com/office/powerpoint/2010/main" val="369068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065F5D-50FE-45BC-80A6-BFCB60A1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Alcance Etapa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93E6F-0E4E-44F4-B4F6-BF6EBCAE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474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Incluye administración, geografía, consulta y sincronización. Deja fuera automatizaciones avanzadas para Etapa 2.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BFFF5-09ED-4A1E-8281-D8898961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Kickoff Argos Etapa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8866C-5B30-4F85-BAE6-7DF82427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D9511-9409-4F94-AAEB-23E07650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2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EB2AC-38D1-4FB4-98C9-8327C88F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Administración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9CCF2-103E-45CF-BF24-B0AFD63B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009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Zonas, ciudades logísticas, Divipoles, plantas, flotas y vehículos.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EB76D-F5F1-4A90-878A-DEA40820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342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F3ADA-A4F5-4530-AF2B-2E6CE1C7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812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Geografía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9A178-33EB-4721-A1AB-F44772E4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3009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Geocercas, geohashes de 6 posiciones y visualización en mapa.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677B3-A88F-42CF-BCAA-0591B529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342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C4E28-1BAC-4877-809B-DB089911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Operación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A1FDD-2156-4027-8E6D-8387F664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3009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Tiempo semilla entre geohash/mapa y plantas aplicables.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B2621-AD48-4C84-9858-C20695C4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342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0836E-B672-4B81-AD5F-A506CB0A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Integración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C5014-C793-43BD-A122-E2592D18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3009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API pública de consulta y sincronización MAP_PAGE vía APIM.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1A30A-236E-4C51-ADA0-60164072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342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B6B98-1226-4BCE-B454-74D5E621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43325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5301E-67F8-4B85-8614-341A81F5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05275"/>
            <a:ext cx="3009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Bitácora, reintentos, auditoría y criterios de performance.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0A9ED0-E502-433E-8C8D-5AB2468A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71875"/>
            <a:ext cx="342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BB099-9F32-4845-8BDA-9E09177C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43325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Fuera de alcance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C91645-0EBF-49C7-8EBC-2E45DD78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05275"/>
            <a:ext cx="3009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Ubicación automática de obras, POC cartográfica y tiempos dinámicos.</a:t>
            </a:r>
          </a:p>
        </p:txBody>
      </p:sp>
    </p:spTree>
    <p:extLst>
      <p:ext uri="{BB962C8B-B14F-4D97-AF65-F5344CB8AC3E}">
        <p14:creationId xmlns:p14="http://schemas.microsoft.com/office/powerpoint/2010/main" val="187436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209C45-BF49-4933-B1D9-3819AC81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Tres frentes paralelos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6156C-D5A5-4561-BBB2-7AC5178B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474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La ruta crítica vive en Core; Menú y Manager habilitan acceso y seguridad sin extender el cierre.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6FAA4-36F7-4D51-941F-25E9A875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Kickoff Argos Etapa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BD1BE-C009-460E-8489-9D594A8F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F60D5-911E-475F-B119-3A552EC2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290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22116-52B4-4F09-A9EE-1941C04D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Core módulo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27A3B-83FC-4A2F-A45C-813568B1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Ing. Senior fullstack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DFF9A-8F4D-441D-8B69-4A1AF53B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952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Entidades, captura, API, geohashes, tiempo semilla, sincronización, migración y UAT.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61AA2-C88D-477A-A2F9-E7182706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S1-S9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524C2-3999-448C-9F96-B336777E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34290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F7623-3823-49CD-AE70-349DF38D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Menú de tarjetas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0A359-9C93-4587-8EDC-9077628D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Ingeniero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8966A-692D-4465-BA25-CCBEE514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2952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Acceso inicial al módulo Argos desde la plataforma Detektor.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F6042-22BF-4385-9053-7DB9938B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S1-S2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6388A-EF6A-4E78-9403-795ABFF6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34290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26314-6F8C-48DB-8839-FD75B532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Manager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67C79-2EC8-4D78-84BC-302765F2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Ingeniero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5CAC6-0320-4630-BA19-C75141A9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952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Usuarios y permisos por perfil cuando existan las acciones a proteger.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96437-B04B-4BCA-83CF-D5CA9542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S5-S9</a:t>
            </a:r>
          </a:p>
        </p:txBody>
      </p:sp>
    </p:spTree>
    <p:extLst>
      <p:ext uri="{BB962C8B-B14F-4D97-AF65-F5344CB8AC3E}">
        <p14:creationId xmlns:p14="http://schemas.microsoft.com/office/powerpoint/2010/main" val="740375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AEDC34-23D0-4392-A8ED-6289C50F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Entrega temprana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6AC63-68A6-413C-AD29-0388056C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474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El primer hito desbloquea captura de información y consumo por sistemas externos al cierre del Sprint 2.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D113A-08BE-488E-B04A-DB57ADD8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Kickoff Argos Etapa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3470F-6777-45B0-BC35-8287573F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A1C95-7E4C-4C56-BC9B-4299F58B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6B35"/>
                </a:solidFill>
              </a:defRPr>
            </a:pPr>
            <a:r>
              <a:rPr sz="3600" b="1">
                <a:solidFill>
                  <a:srgbClr val="FF6B35"/>
                </a:solidFill>
              </a:rPr>
              <a:t>Entrega 1</a:t>
            </a:r>
          </a:p>
          <a:p xmlns:a="http://schemas.openxmlformats.org/drawingml/2006/main">
            <a:pPr>
              <a:defRPr sz="3600" b="1">
                <a:solidFill>
                  <a:srgbClr val="FF6B35"/>
                </a:solidFill>
              </a:defRPr>
            </a:pPr>
            <a:r>
              <a:rPr sz="3600" b="1">
                <a:solidFill>
                  <a:srgbClr val="FF6B35"/>
                </a:solidFill>
              </a:rPr>
              <a:t>Captura +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91872-42CE-46E5-B2F0-9FC13CF1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Disponible al cierre de S2: 04 de agosto de 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F550A-D28A-4FAF-B26F-9FF8A076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95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E3ED1-D109-4068-93AC-581AC3ED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09750"/>
            <a:ext cx="5210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</a:defRPr>
            </a:pPr>
            <a:r>
              <a:rPr sz="1875">
                <a:solidFill>
                  <a:srgbClr val="000000"/>
                </a:solidFill>
              </a:rPr>
              <a:t>Carga inicial de catálogos desde archivos de Argos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41C5C-CDE8-47BB-A0AE-4CC8B83C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43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83B96-019F-48B8-9BD8-D1B04B93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5210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</a:defRPr>
            </a:pPr>
            <a:r>
              <a:rPr sz="1875">
                <a:solidFill>
                  <a:srgbClr val="000000"/>
                </a:solidFill>
              </a:rPr>
              <a:t>CRUD de captura para todos los niveles 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685D5-F3AD-45A4-9182-1B77D9A3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90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6FF42-DB36-4FEC-8957-94873024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05150"/>
            <a:ext cx="5210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</a:defRPr>
            </a:pPr>
            <a:r>
              <a:rPr sz="1875">
                <a:solidFill>
                  <a:srgbClr val="000000"/>
                </a:solidFill>
              </a:rPr>
              <a:t>BD PostgreSQL y migraciones desde S1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82477-90BE-42CA-BB27-0DC3E870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38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0104B-6DCC-4EC2-919D-C10F56C6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5210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</a:defRPr>
            </a:pPr>
            <a:r>
              <a:rPr sz="1875">
                <a:solidFill>
                  <a:srgbClr val="000000"/>
                </a:solidFill>
              </a:rPr>
              <a:t>API pública con filtros en cascada para Skytrack y Tracking</a:t>
            </a:r>
          </a:p>
        </p:txBody>
      </p:sp>
    </p:spTree>
    <p:extLst>
      <p:ext uri="{BB962C8B-B14F-4D97-AF65-F5344CB8AC3E}">
        <p14:creationId xmlns:p14="http://schemas.microsoft.com/office/powerpoint/2010/main" val="14571158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64670A-84DA-4763-BEDB-F0037533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Plan de sprints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DA483-EB4B-4DA3-8A4D-1E938821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474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9 sprints de 2.5 semanas: inicio 29 de junio de 2026 y cierre estimado 9 de diciembre de 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20C66-8C4D-4C05-8093-A92566EA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Kickoff Argos Etapa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25BE9-24B3-4255-A487-EC46D375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54A3B-C616-42F2-8424-5A3E2712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BC2ED-F76D-4653-B74A-B60D5BDC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103D2-E579-460E-A191-8DF87AEF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Setup + modelo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257E3-F82E-4354-859F-A691CB05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D4506-28FD-4DA9-BB8A-65970AD0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860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8D261-26A4-40AE-8A92-934C0145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47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S2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1AB84-0020-4A16-82BD-09243A29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5814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Captura +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A8346-D764-4006-80EB-07574F8F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48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2D38C-909C-4175-9564-EB63EFC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860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74CA8-7F00-48C9-9BB7-6D0D9EB7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47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F99F6-D77A-4DCE-9DF2-75614BBD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814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Geometría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65D20-FEEA-4618-9D6C-4A7728C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48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B500F-D435-4CAF-8905-BF5DACA7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6860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03F41-B3BC-497D-B131-5516FF3F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847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660C4-1068-4175-BC3F-D4CE0E3B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5814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Geohashes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90B7F9-A4B4-465C-91B1-8A4AEDC5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48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D44FF-2A1A-44CA-B2CF-D92836BB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860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955BEB-D3C0-4C37-A611-6D832B93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47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69F89-FDFE-4CA7-926A-3D0C16ED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814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Tiempo semilla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38FE03-C307-4BAE-9E4C-9BFDAC40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48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25FFF7-42E9-4567-9580-BEBCE006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860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3F40E3-5B8F-4AB2-B2F0-524DA182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47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C997BA-6BAF-42AC-B9DA-64774E85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814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Auditoría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F78954-360F-42C8-98C0-F67891C6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48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B9FDC4-9286-4996-B13C-0B31569C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860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B35510-6402-424B-90FB-DD6156E2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47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269083-2C2E-4278-B9DB-08EF9B76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814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Envío APIM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0047F2-CB40-481A-9306-0FF456F1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AEDB9E-DE31-4322-906F-4E6B7AC9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6860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B56762-1BBD-47A5-9FF3-4888F28C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47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798C13-03C9-4D50-A80F-71BADE5E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5814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Errores + bitácora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192E5A-0784-4208-B8A0-A5FA5B3A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048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C2DCEA-6185-4790-83F5-19A239FE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860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3D0771-2B90-4694-A981-5C3D7626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47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07E02F-C1CA-4043-90F2-69F08644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814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UAT + cierre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20FEB6-6B1F-4C8E-8244-8FE55795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552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9B3A5B-A1A5-4E70-956B-E014420C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RUTA CRÍTICA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67B2BA-7EB4-4F57-BF2A-938B6692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Core S1-S9. Menú termina temprano (S1-S2) y Manager cierra permisos en paralelo (S5-S9).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8F7072-3635-4E6F-AF4A-8E323829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4FB408-8F8C-4922-91FF-A060BBE0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HITO DE NEGOCIO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ADC61B-F151-4ADA-B033-DB95DFC8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Entrega 1 habilita validación temprana con usuarios y consumidores externos.</a:t>
            </a:r>
          </a:p>
        </p:txBody>
      </p:sp>
    </p:spTree>
    <p:extLst>
      <p:ext uri="{BB962C8B-B14F-4D97-AF65-F5344CB8AC3E}">
        <p14:creationId xmlns:p14="http://schemas.microsoft.com/office/powerpoint/2010/main" val="7173869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F927E2-3A7E-46E2-8E99-6AEE4ABA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API pública de consulta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408BB-9A65-4131-9D12-DF92A331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474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Servicio REST de solo lectura para filtros en cascada zona -&gt; ciudad -&gt; equipo -&gt; vehículo.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A8A77-5BBD-4AE2-B1E9-D915AC7B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Kickoff Argos Etapa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2DF6C-DB7F-453B-B630-58D9D6DC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9996C-EB94-41AE-AD35-B2873CAB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0839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DF37E-71BD-460F-AD1E-5907F4FD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Componente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C9F45-17F5-443D-BA04-8816F181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383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Descripción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D05C1-D381-4A2A-94CD-8AC6BF66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383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Filtros / consumidor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7C6B0-4844-4D24-A760-C6A4CDFE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0839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64894-2227-4BEB-B091-8960C202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GET /zonas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8B596-CA20-4C17-A841-985E6EDC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5267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Todas las zonas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00C1A-9FB1-486A-A4A4-D711E00A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5267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Sin filtro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E7E74-8283-4F34-A68F-B8CD0B8C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28925"/>
            <a:ext cx="10839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D119B-8DE4-44A0-B1DD-FC436F67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GET /ciudades-logisticas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98A4D-13E3-4648-995A-13AFA6C8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718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Ciudades logísticas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F344F-454F-45E6-9893-B9809B61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718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?zona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B66F1-4328-471A-816A-9F324EDA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10839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8044A-682A-40FD-85B3-7AC28646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GET /equipos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0E316-9837-487D-949D-A2103291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909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Equipos / flotas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1E3CF-589C-43E0-BCCD-CF80C325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909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?zona, ?ciudad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6388E-7BFD-462D-AEF5-374FA050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67175"/>
            <a:ext cx="10839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EEC233-7004-427B-8BF9-5479D821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GET /vehiculos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88B3E4-58C8-45F9-8DCE-A9D5A35E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1005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Vehículos paginados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F605D-6BC1-4147-93C1-3A08CD74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1005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?zona, ?ciudad, ?equipo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E91FD-A0F8-4A26-B2D9-74D9E589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10839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8103BA-2109-4BB2-8232-3079007E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Auth + contrato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1D1397-E532-4F54-B942-D3DCED46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2917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Token/API key, OpenAPI, /api/v1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E6BE1B-18E5-467E-AA44-AB0F7FDB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2917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Skytrack, Tracking</a:t>
            </a:r>
          </a:p>
        </p:txBody>
      </p:sp>
    </p:spTree>
    <p:extLst>
      <p:ext uri="{BB962C8B-B14F-4D97-AF65-F5344CB8AC3E}">
        <p14:creationId xmlns:p14="http://schemas.microsoft.com/office/powerpoint/2010/main" val="9395774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37E128-25B3-4DEF-886E-D552336B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Sincronización hacia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D0233-FE78-4765-AF67-FB18F962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474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La integración se deja hacia el final para reducir bloqueo por APIM y validar antes con mocks.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568E3-2271-449F-9BCE-21E7348D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Kickoff Argos Etapa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0FC3F-D8E5-441E-BC62-E9E4F28B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6B59F-D270-4E95-9D27-7DF6F5B7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AEE19-67B4-4410-B8C5-544AF50C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33625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E651E-FC8C-4DB4-870C-40697793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33625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43507-823C-45E4-8A15-2C42E503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33625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02BE1-6EDF-4B38-854B-A4978E56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33625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A29C9-F2CD-435F-8B56-55E654C5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Pendientes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C1261-D184-4622-9E34-1A23A97F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193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Lote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282E6-9560-4DF3-B5A8-1BFEFF86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193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APIM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0AAB0-FEB4-4EDD-A730-8DE286EB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193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1B28E-7F8F-4026-8F27-3DC7F327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1937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Bitácora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95F59-9294-436E-AD49-48C41A8F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81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E7B48-9983-4CA5-8198-B5020309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81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101C1-00EA-4C27-9820-E8D91D1D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81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E906C-F4D3-4A58-BB72-C291FEF0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81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18AFD-96D9-4D70-B1BC-033CF469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3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AE9DF-4008-4BC0-8449-7925B7C6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48125"/>
            <a:ext cx="8305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S6: marcar pendientes y proceso por lotes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7453B-DED9-479D-896B-7755F7D8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57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98D4D2-8808-4993-AF51-DE9A53F9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72000"/>
            <a:ext cx="8305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S7: envío MAP_PAGE, FLG_OVERRIDE, reenvío y programación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70513B-8FAE-41C0-A15A-270EC40F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81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0E632-C9CB-4CFB-A028-85E4C3DF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95875"/>
            <a:ext cx="8305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S8: respuestas, errores, notificaciones, bitácora y reintentos</a:t>
            </a:r>
          </a:p>
        </p:txBody>
      </p:sp>
    </p:spTree>
    <p:extLst>
      <p:ext uri="{BB962C8B-B14F-4D97-AF65-F5344CB8AC3E}">
        <p14:creationId xmlns:p14="http://schemas.microsoft.com/office/powerpoint/2010/main" val="4504965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084079-04CB-4CF2-BE6B-57031C90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Riesgos y decisiones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9A250-AABA-4E90-9673-C6C19EE2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474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Los temas de validación del kickoff deben cerrar temprano para proteger S6-S8.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E8DFE-2E0A-482D-ADAF-E41A5251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Kickoff Argos Etapa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1E9CC-1476-410D-8009-49BF09E3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CFB1E-596F-4C58-AE20-35B86E69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5048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C5C98-A914-4F89-9501-175A36C0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APIM y ambientes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6045E-EEED-43C3-81D6-A3FFC22A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Confirmar disponibilidad, contrato REST, auth y tamaño de lote.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96E02-AE5A-4B4C-8027-A2F03A57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600200"/>
            <a:ext cx="5048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0B568-728A-4E73-9782-1E75C036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716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Filtros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5D3D9-4182-442C-9450-EB868AF5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336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Definir AND recomendado vs OR para la cascada.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5F014-8273-47EE-9FF7-AC87036B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5048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18239-88D4-4EC8-8E26-C141A554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Data maestra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F653A-D2BC-4011-82C2-DE3EDC48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Códigos zona/Divipol/plantas y archivos de carga inicial.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764B7-1905-4469-955B-FAC31E4F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33700"/>
            <a:ext cx="5048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9D0B2-6B40-4D3B-9500-922B0E61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051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Tiempo semilla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F3A50-ECFD-4213-9091-56EA52F6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671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Regla mínima viable, fuente de datos y momento de carga.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AF6ED-0170-4B15-B308-EC06095F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0839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7FAE8-FD86-4E1D-A2F9-E750CB3A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42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Seguridad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2BD80-CC04-4B9D-BED1-5C2B2201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42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Perfiles, usuarios y acciones protegidas del módulo.</a:t>
            </a:r>
          </a:p>
        </p:txBody>
      </p:sp>
    </p:spTree>
    <p:extLst>
      <p:ext uri="{BB962C8B-B14F-4D97-AF65-F5344CB8AC3E}">
        <p14:creationId xmlns:p14="http://schemas.microsoft.com/office/powerpoint/2010/main" val="18348998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7E813D-DDF7-4043-872B-68FB2C53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Cierre del kickoff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6ED5F-26AE-4648-A52C-652B4761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474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Con aprobación, las partes confirman alcance, frentes, secuencia de entregas y cronograma estimado.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B18B6-B548-4A5C-82E5-0EF78F73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Kickoff Argos Etapa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4421D-86CA-4EF6-B796-BE54A791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9BE90-27A5-471C-90D0-4B94531B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2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530BC-7220-4641-9F8C-CBF4F4BB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APROBACIONES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A0D84-5E1A-45F0-99C6-E7E325C7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0099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Detektor / Tecnoideas</a:t>
            </a:r>
          </a:p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Argos / Summa</a:t>
            </a:r>
          </a:p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Nombre · cargo · fecha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87DE2-ED2C-40BE-AE93-E03DCCD3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342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D9297-EADC-412E-AD8A-ED36DD97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812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ESTIMACIÓN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11D1E-26B6-4B22-9188-FF9C4C9C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30099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454 horas</a:t>
            </a:r>
          </a:p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USD 11,350</a:t>
            </a:r>
          </a:p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No incluye impuestos, licencias ni infraestructura.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614E9-1C72-4478-872E-7C0BBBF3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09750"/>
            <a:ext cx="30099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39058-D874-496C-A21E-5E15B68E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812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PRÓXIMOS PASOS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788C4-1F90-4146-89B4-3E617C13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590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Validar pendientes críticos, calendarizar sesiones técnicas APIM/data y arrancar S1 con modelo de datos y catálogos.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E07A5-18DF-433F-BFAB-3B7A7297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Fuente: Plan_de_Trabajo_Argos_Etapa1.docx, versión 1.0, 24 de junio de 2026.</a:t>
            </a:r>
          </a:p>
        </p:txBody>
      </p:sp>
    </p:spTree>
    <p:extLst>
      <p:ext uri="{BB962C8B-B14F-4D97-AF65-F5344CB8AC3E}">
        <p14:creationId xmlns:p14="http://schemas.microsoft.com/office/powerpoint/2010/main" val="335487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2026-06-30T14:42:00.7490000Z</dcterms:created>
  <dcterms:modified xsi:type="dcterms:W3CDTF">2026-06-30T14:42:00.7490000Z</dcterms:modified>
</coreProperties>
</file>